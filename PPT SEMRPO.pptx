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6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D7311-FD0F-6A26-B9F3-56184C420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634376-FB15-D85D-BEEF-4325E9501F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D20B4-23FE-09CC-4D92-B8A99B8B9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1769A-FD46-44DC-9F00-B1DCB23CEDFE}" type="datetimeFigureOut">
              <a:rPr lang="en-ID" smtClean="0"/>
              <a:t>19/05/2024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F689C-89BE-7D34-0AE3-6DF5B7CFB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D241F-A5D8-BB90-A148-13D146908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21635-387E-410A-84AD-5AFDDCB6FE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33772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3E74B-FDAA-B7BF-7B74-C15164C07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A894C-338A-E9D8-F620-0C6EF3432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C021C-70B2-7BEC-72EE-9E7DBF464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1769A-FD46-44DC-9F00-B1DCB23CEDFE}" type="datetimeFigureOut">
              <a:rPr lang="en-ID" smtClean="0"/>
              <a:t>19/05/2024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67E4-34A3-ABF6-A689-555450A0C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B9098-8D04-AB6C-7C51-04B127FB7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21635-387E-410A-84AD-5AFDDCB6FE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2848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0D45E-E607-2332-4866-51DB85EE8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39A0BF-770A-A80A-3D0C-8E76C5E43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05407-85F7-7AFC-9C1C-92FAD402A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1769A-FD46-44DC-9F00-B1DCB23CEDFE}" type="datetimeFigureOut">
              <a:rPr lang="en-ID" smtClean="0"/>
              <a:t>19/05/2024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9B28A-F660-2C18-A101-6A4CC4812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ACAB5-CBB6-516C-8243-B624B52CE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21635-387E-410A-84AD-5AFDDCB6FE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16426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5FCD5-BBFA-8B68-AEA9-1B99B8DAE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37A6F-12AA-39A4-2428-21198037BF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DF8F8C-7C87-52FA-AD85-B24772D36E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699A09-BC26-B99C-4E9B-D6893C8DF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1769A-FD46-44DC-9F00-B1DCB23CEDFE}" type="datetimeFigureOut">
              <a:rPr lang="en-ID" smtClean="0"/>
              <a:t>19/05/2024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184CAA-CF9E-67E7-47F7-871D808C0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FFB243-E38E-2A61-8A67-F39B35E4E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21635-387E-410A-84AD-5AFDDCB6FE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61773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C0E2B-DA2D-CCB3-CA70-61BC4B65C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68D13A-7261-39D5-2FFF-00191FDC4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795496-0EFB-C633-FB51-CD3EC7054D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2D7BBD-45C7-2A0D-F229-F8AAAA0A66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AB26A4-0543-03B6-F6A2-213D5B8C00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5C3DE1-23DF-C69E-EA92-9EDDBE744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1769A-FD46-44DC-9F00-B1DCB23CEDFE}" type="datetimeFigureOut">
              <a:rPr lang="en-ID" smtClean="0"/>
              <a:t>19/05/2024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8F3CB6-59CD-FAB2-B42E-2201963BE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133766-A3B5-86EF-4FF7-B07DD8BAC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21635-387E-410A-84AD-5AFDDCB6FE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648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B7A51-73CE-A804-DE43-2FF085632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5D4EF3-60A3-2834-673F-E5FF3DF1D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1769A-FD46-44DC-9F00-B1DCB23CEDFE}" type="datetimeFigureOut">
              <a:rPr lang="en-ID" smtClean="0"/>
              <a:t>19/05/2024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FABA10-AF9C-A1A0-DCBF-B0E18295D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72C609-FE7C-6DE1-6230-84045981A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21635-387E-410A-84AD-5AFDDCB6FE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79332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6EAADC-6A0C-2510-A7A5-D0A76D764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1769A-FD46-44DC-9F00-B1DCB23CEDFE}" type="datetimeFigureOut">
              <a:rPr lang="en-ID" smtClean="0"/>
              <a:t>19/05/2024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144DF8-2B75-761A-6AC4-41C6B2A4B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C31B84-EC52-8F84-7411-F3C335DB4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21635-387E-410A-84AD-5AFDDCB6FE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61626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58318-448C-BD07-3AAA-051929460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F8443-C4E9-1919-00D0-974D8590E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074895-E38E-2EE7-6B57-8D5BF195D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BFFD13-4B72-8B83-9B86-C8F11A1A8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1769A-FD46-44DC-9F00-B1DCB23CEDFE}" type="datetimeFigureOut">
              <a:rPr lang="en-ID" smtClean="0"/>
              <a:t>19/05/2024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C43566-1C3D-4CC0-A880-67454460B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772ACB-9403-A309-4887-85C6195C2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21635-387E-410A-84AD-5AFDDCB6FE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4808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D82E1-9186-6831-B1D1-E8E020E17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99D8E3-89FE-5744-1471-C375444B5B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731C3A-B424-1EDE-A068-DB7B5772D4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D62455-B11A-89CB-6612-6301AFBD2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1769A-FD46-44DC-9F00-B1DCB23CEDFE}" type="datetimeFigureOut">
              <a:rPr lang="en-ID" smtClean="0"/>
              <a:t>19/05/2024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4E8F76-65C0-4AB6-82DC-DD299884A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FC6E81-A9BF-3929-BD0E-C8079FE28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21635-387E-410A-84AD-5AFDDCB6FE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49798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0713E-DE45-9359-D7FC-968474095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EE2273-8133-A23F-1A96-5633D25BE1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16EDE-CCBE-3358-F2D6-78FBF307C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1769A-FD46-44DC-9F00-B1DCB23CEDFE}" type="datetimeFigureOut">
              <a:rPr lang="en-ID" smtClean="0"/>
              <a:t>19/05/2024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6FD48-A070-C6C4-FE51-E4CD84B13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75DBA-3A26-9C6D-DDF7-B5BB59635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21635-387E-410A-84AD-5AFDDCB6FE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27665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34EFE6-A85C-D39C-AF9B-24025F1A87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5857E-3296-9447-6AB8-5B11F04CB1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CC40E-E6BE-8549-C57B-4315588E6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1769A-FD46-44DC-9F00-B1DCB23CEDFE}" type="datetimeFigureOut">
              <a:rPr lang="en-ID" smtClean="0"/>
              <a:t>19/05/2024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8678E-036A-B602-2EBA-B82E7DF5A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F0903-E6D2-20DC-44EB-08700C08D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21635-387E-410A-84AD-5AFDDCB6FE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80206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8E922C-0C03-31AF-E8E5-99B031F3D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2E5BE-3821-3711-C966-29A433A60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ABDB5-0EC0-615B-4366-04D0C3524C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1769A-FD46-44DC-9F00-B1DCB23CEDFE}" type="datetimeFigureOut">
              <a:rPr lang="en-ID" smtClean="0"/>
              <a:t>19/05/2024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BD913-AF9A-D787-A8A6-77559AA360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2E884-550B-CDE5-CCD3-8CDF78EB26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21635-387E-410A-84AD-5AFDDCB6FE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80654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48560-D1AF-F9EE-9045-7C7F322D4A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>
                <a:latin typeface="+mn-lt"/>
              </a:rPr>
              <a:t>Pendahuluan</a:t>
            </a:r>
            <a:endParaRPr lang="en-ID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06B003-3A6A-E6E0-04E1-1E50F971D7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BAB I</a:t>
            </a:r>
            <a:endParaRPr lang="en-ID" sz="4400" b="1" dirty="0"/>
          </a:p>
        </p:txBody>
      </p:sp>
    </p:spTree>
    <p:extLst>
      <p:ext uri="{BB962C8B-B14F-4D97-AF65-F5344CB8AC3E}">
        <p14:creationId xmlns:p14="http://schemas.microsoft.com/office/powerpoint/2010/main" val="1951428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130BD-E246-6ABA-50F6-F776122B60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00087"/>
            <a:ext cx="9144000" cy="1023938"/>
          </a:xfrm>
        </p:spPr>
        <p:txBody>
          <a:bodyPr>
            <a:normAutofit/>
          </a:bodyPr>
          <a:lstStyle/>
          <a:p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Latar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Belakang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Masalah</a:t>
            </a:r>
            <a:endParaRPr lang="en-ID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332601-2E10-328F-5100-BB72C3CD23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78819"/>
            <a:ext cx="9144000" cy="3321844"/>
          </a:xfrm>
        </p:spPr>
        <p:txBody>
          <a:bodyPr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Banyak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terjadi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judul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diajukan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oleh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mahasiswa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kali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identik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sangat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mirip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judul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sudah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pernah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diajukan</a:t>
            </a:r>
            <a:r>
              <a:rPr lang="en-ID" sz="1800" dirty="0"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Kebanyakan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dari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mahasiswa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hanya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mengganti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judul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dengan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lokasi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penelitian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berbeda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tanpa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adanya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nilai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keterbaharuan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dari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penelitian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tersebut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Banyak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dari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judul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skripsi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diajukan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,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ditolak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oleh KBK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karena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judul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identik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, sangat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mirip</a:t>
            </a:r>
            <a:r>
              <a:rPr lang="en-ID" sz="1800" dirty="0"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, dan </a:t>
            </a:r>
            <a:r>
              <a:rPr lang="en-ID" sz="1800" dirty="0" err="1"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bahkan</a:t>
            </a:r>
            <a:r>
              <a:rPr lang="en-ID" sz="1800" dirty="0"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plagiat</a:t>
            </a:r>
            <a:r>
              <a:rPr lang="en-ID" sz="1800" dirty="0"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terhadap</a:t>
            </a:r>
            <a:r>
              <a:rPr lang="en-ID" sz="1800" dirty="0"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judul</a:t>
            </a:r>
            <a:r>
              <a:rPr lang="en-ID" sz="1800" dirty="0"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yang </a:t>
            </a:r>
            <a:r>
              <a:rPr lang="en-ID" sz="1800" dirty="0" err="1"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sudah</a:t>
            </a:r>
            <a:r>
              <a:rPr lang="en-ID" sz="1800" dirty="0"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pernah</a:t>
            </a:r>
            <a:r>
              <a:rPr lang="en-ID" sz="1800" dirty="0"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diajukan</a:t>
            </a:r>
            <a:r>
              <a:rPr lang="en-ID" sz="1800" dirty="0"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oleh </a:t>
            </a:r>
            <a:r>
              <a:rPr lang="en-ID" sz="1800" dirty="0" err="1"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mahasiswa</a:t>
            </a:r>
            <a:r>
              <a:rPr lang="en-ID" sz="1800" dirty="0"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sebelumnya</a:t>
            </a:r>
            <a:r>
              <a:rPr lang="en-ID" sz="1800" dirty="0"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.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Saat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ini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terdapat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±2148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judul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skripsi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pada 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spreadsheet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prodi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teknik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informatika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.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Sehingga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meyulitkan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untuk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mendeteksi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kemiripan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pada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judul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skripsi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diajukan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.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Untuk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mendeteksi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kemiripan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pada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judul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skripsi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. </a:t>
            </a: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923934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D8824-EAEC-1EB9-4D6B-1497F5E0B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Identifikasi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Masalah</a:t>
            </a:r>
            <a:endParaRPr lang="en-ID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BACD7-30C6-83A4-DBEA-258E9F86C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Sulitnya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bagi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mahasiswa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untuk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mencari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kemiripan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ide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judul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mereka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dengan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judul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sudah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ada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Pengecekan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judul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–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judul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mahasiswa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diajukan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	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masih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dilakukan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dengan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cara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manual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tersimpan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dalam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bentuk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Microsoft Excel.</a:t>
            </a:r>
            <a:endParaRPr lang="en-ID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Pertimbangan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judul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–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judul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telah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diajukan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ke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kelompok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bidang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keilmuan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(KBK)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menjadi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kurang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efisien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karena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dilakukan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satu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persatu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apabila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judul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diajukan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sangat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banyak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sehingga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memungkinkan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untuk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terjadinya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judul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sama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98313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604AD-0230-1F27-CBF7-036C5160A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sz="4000" b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Rumusan</a:t>
            </a:r>
            <a:r>
              <a:rPr lang="en-ID" sz="4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ID" sz="4000" b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Masalah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6DDA0-0FEC-62C8-3043-C54D36FA7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Perumusan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masalah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berdasarkan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uraian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latar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belakang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menjadi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“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Bagaimana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kelompok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bidang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keilmuan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(KBK)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dapat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mendeteksi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kemiripan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judul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diajukan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oleh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mahasiswa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teknik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informatika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dengan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judul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–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judul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sudah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ada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dan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bagaimana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mahasiswa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dapat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menentukan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serta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mendeteksi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adanya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kemiripan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ide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judulnya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dengan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judul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sudah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ada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dengan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menerapkan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algoritma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TF-IDF 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dan 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Fuzzy Matching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untuk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aplikasi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berbasis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android?”.</a:t>
            </a: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29064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DDB74-5441-1734-3C5A-B67FEEA72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D" sz="4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Batasan </a:t>
            </a:r>
            <a:r>
              <a:rPr lang="en-ID" sz="4000" b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Masalah</a:t>
            </a:r>
            <a:endParaRPr lang="en-ID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83F39-1F65-8755-5B5A-57A93EF9E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Ruang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lingkup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penelitian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ini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hanya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mencangkup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program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studi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teknik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informatika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IIB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Darmajaya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.</a:t>
            </a: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Pengguna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aplikasi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ini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adalah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kelompok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bidang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keilmuan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(KBK) dan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mahasiswa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program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studi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teknik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informatika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.</a:t>
            </a: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Kombinasi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algoritma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TF-IDF 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dan 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Fuzzy Matching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memiliki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kekurangan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dalam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memahami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konteks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judul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–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judul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, data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belum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pernah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ada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,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hubungan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antar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judul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kompleks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,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serta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sumber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daya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tinggi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untuk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melakukan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komputasi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dengan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algoritma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ini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.</a:t>
            </a: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Menggunakan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Bahasa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pemrograman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Python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sebagai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backend computing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dan database 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JSON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untuk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penyimpanan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data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judul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.</a:t>
            </a: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509662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AA890-866C-AEBA-4068-97C44B167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D" sz="4000" b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Tujuan</a:t>
            </a:r>
            <a:r>
              <a:rPr lang="en-ID" sz="4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ID" sz="4000" b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Penelitian</a:t>
            </a:r>
            <a:endParaRPr lang="en-ID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3EED3-F529-13A6-00F3-75973101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Membantu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menghindari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adanya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kemungkinan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judul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skripsi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sama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antara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judul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diajukan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dengan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judul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sudah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ada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.</a:t>
            </a: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Meningkatkan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efesiensi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proses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pertimbangan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terhadap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judul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–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judul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diajukan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oleh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mahasiswa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teknik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informatika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.</a:t>
            </a: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Membantu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pendeteksian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kemiripan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judul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diajukan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secara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efektif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.</a:t>
            </a: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69959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F16F5-47DF-8019-B5A7-7EF773F3C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D" sz="4000" b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Manfaat</a:t>
            </a:r>
            <a:r>
              <a:rPr lang="en-ID" sz="4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ID" sz="4000" b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Penelitian</a:t>
            </a:r>
            <a:endParaRPr lang="en-ID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72884-CE8E-2D02-9AAA-6D9531591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Membantu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pengambilan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keputusan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pertimbangan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kelompok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bidang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keilmuan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(KBK)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dalam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menentukan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judul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–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judul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diajukan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.</a:t>
            </a: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Membantu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memberikan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rekomendasi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judul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serupa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cukup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akurat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.</a:t>
            </a: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Membantu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dalam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mendeteksi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persentase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kemiripan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dari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judul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–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judul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diajukan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.</a:t>
            </a: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987710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95E03-ED8A-403E-92CF-1543E2E9B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D" sz="4000" b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Algoritma</a:t>
            </a:r>
            <a:r>
              <a:rPr lang="en-ID" sz="4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ID" sz="4000" b="1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TF-IDF</a:t>
            </a:r>
            <a:endParaRPr lang="en-ID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EB89A-EF13-4FA0-8D32-1090663B5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Algoritma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Term Frequency – Inverse Document Frequency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merupkan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metode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digunakan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untuk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menghitung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bobot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atau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nilai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setiap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kata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kunci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dalam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sebuah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dokumen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.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Bobot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atau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nilai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ini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mencerminkan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seberapa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penting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kata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kunci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dalam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dokumen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dan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seberapa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jarang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kata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kunci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muncul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di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dalam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dokumen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113514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E806D-255C-7DB5-E2E2-C7B8DD56B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D" sz="4000" b="1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Term Frequency</a:t>
            </a:r>
            <a:r>
              <a:rPr lang="en-ID" sz="40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endParaRPr lang="en-ID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99740-5FBB-EE0A-315A-80B995030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Term Frequency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merupakan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metode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bekerja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dengan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cara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mengukur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seberapa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sering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kata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kunci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muncul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dalam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dokumen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.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Semakin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sering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kata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kunci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muncul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,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semakin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tinggi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nilai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TF-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nya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.</a:t>
            </a: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0" indent="0">
              <a:buNone/>
            </a:pPr>
            <a:endParaRPr lang="en-ID" dirty="0"/>
          </a:p>
          <a:p>
            <a:pPr marL="0" indent="0">
              <a:buNone/>
            </a:pPr>
            <a:endParaRPr lang="en-ID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0" indent="0" algn="ctr">
              <a:buNone/>
            </a:pP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Sumber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: 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Wikipedia </a:t>
            </a:r>
            <a:r>
              <a:rPr lang="en-ID" sz="1800" i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tf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–</a:t>
            </a:r>
            <a:r>
              <a:rPr lang="en-ID" sz="1800" i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idf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</a:p>
          <a:p>
            <a:pPr marL="457200" indent="0" algn="just">
              <a:lnSpc>
                <a:spcPct val="150000"/>
              </a:lnSpc>
              <a:spcAft>
                <a:spcPts val="550"/>
              </a:spcAft>
              <a:buNone/>
            </a:pP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Keterangan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:</a:t>
            </a: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914400" indent="0" algn="just">
              <a:lnSpc>
                <a:spcPct val="150000"/>
              </a:lnSpc>
              <a:spcAft>
                <a:spcPts val="550"/>
              </a:spcAft>
              <a:buNone/>
            </a:pP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tf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(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t, d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) 		= Nilai kata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sering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muncul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dalam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kumpulan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dokumen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.</a:t>
            </a: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0" indent="0" algn="just">
              <a:lnSpc>
                <a:spcPct val="150000"/>
              </a:lnSpc>
              <a:spcAft>
                <a:spcPts val="550"/>
              </a:spcAft>
              <a:buNone/>
            </a:pP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		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		= 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term</a:t>
            </a: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0" indent="0" algn="just">
              <a:lnSpc>
                <a:spcPct val="150000"/>
              </a:lnSpc>
              <a:spcAft>
                <a:spcPts val="550"/>
              </a:spcAft>
              <a:buNone/>
            </a:pP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		d		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=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dokumen</a:t>
            </a: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0" indent="0">
              <a:buNone/>
            </a:pPr>
            <a:endParaRPr lang="en-ID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982D0F-0FE9-62AD-0D77-BFD70E56F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555" y="3119755"/>
            <a:ext cx="3056890" cy="618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572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ECDA3-A807-802B-890D-425F3CD1F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D" sz="4000" b="1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Inverse Document Frequency</a:t>
            </a:r>
            <a:endParaRPr lang="en-ID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75C12-AD3C-EDF4-9A8C-F61BD8C3D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175"/>
            <a:ext cx="10515600" cy="4776788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Sedangkan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Inverse Document Frequency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,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Mengukur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seberapa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jarang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kata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kunci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muncul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di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seluruh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dokumen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dalam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kumpulan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data.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Semakin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jarang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kata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kunci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muncul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,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semakin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tinggi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nilai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IDF-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nya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.</a:t>
            </a: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0" indent="0">
              <a:buNone/>
            </a:pPr>
            <a:endParaRPr lang="en-ID" dirty="0"/>
          </a:p>
          <a:p>
            <a:pPr marL="0" indent="0">
              <a:buNone/>
            </a:pPr>
            <a:endParaRPr lang="en-ID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0" indent="0" algn="ctr">
              <a:buNone/>
            </a:pP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Sumber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: 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Wikipedia </a:t>
            </a:r>
            <a:r>
              <a:rPr lang="en-ID" sz="1800" i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tf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–</a:t>
            </a:r>
            <a:r>
              <a:rPr lang="en-ID" sz="1800" i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idf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</a:p>
          <a:p>
            <a:pPr marL="0" indent="0" algn="just">
              <a:lnSpc>
                <a:spcPct val="120000"/>
              </a:lnSpc>
              <a:spcAft>
                <a:spcPts val="550"/>
              </a:spcAft>
              <a:buNone/>
            </a:pP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Keterangan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:</a:t>
            </a: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914400" indent="0" algn="just">
              <a:lnSpc>
                <a:spcPct val="120000"/>
              </a:lnSpc>
              <a:spcAft>
                <a:spcPts val="550"/>
              </a:spcAft>
              <a:buNone/>
            </a:pP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idf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(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t, D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) 	= Nilai kata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jarang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muncul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dalam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kumpulan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dokumen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.</a:t>
            </a: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0" indent="0" algn="just">
              <a:lnSpc>
                <a:spcPct val="120000"/>
              </a:lnSpc>
              <a:spcAft>
                <a:spcPts val="550"/>
              </a:spcAft>
              <a:buNone/>
            </a:pP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		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		= 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term</a:t>
            </a: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0" indent="0" algn="just">
              <a:lnSpc>
                <a:spcPct val="120000"/>
              </a:lnSpc>
              <a:spcAft>
                <a:spcPts val="550"/>
              </a:spcAft>
              <a:buNone/>
            </a:pP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		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N		= Total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nilai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dokumen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dalam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sebuah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list.</a:t>
            </a: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0" indent="0" algn="just">
              <a:lnSpc>
                <a:spcPct val="120000"/>
              </a:lnSpc>
              <a:spcAft>
                <a:spcPts val="550"/>
              </a:spcAft>
              <a:buNone/>
            </a:pP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		d		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=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Dokumen</a:t>
            </a: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0" indent="0" algn="just">
              <a:lnSpc>
                <a:spcPct val="120000"/>
              </a:lnSpc>
              <a:spcAft>
                <a:spcPts val="550"/>
              </a:spcAft>
              <a:buNone/>
            </a:pP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		D 		= Total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dokumen</a:t>
            </a: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0" indent="0">
              <a:buNone/>
            </a:pPr>
            <a:endParaRPr lang="en-ID" sz="2000" dirty="0"/>
          </a:p>
          <a:p>
            <a:pPr marL="0" indent="0">
              <a:buNone/>
            </a:pP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68E3E8-9788-EB1A-0164-C29664D72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100" y="2249488"/>
            <a:ext cx="2971800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762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9BB7F-8636-70DF-93CB-4E50A0AF7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3E6C1-B57B-783C-D61C-56D5CF524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Nilai 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TF-IDF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dihitung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dengan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mengalikan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nilai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TF 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dan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nilai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IDF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,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sehingga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rumusnya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adalah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:</a:t>
            </a:r>
          </a:p>
          <a:p>
            <a:pPr marL="0" indent="0">
              <a:buNone/>
            </a:pP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0" indent="0" algn="ctr">
              <a:buNone/>
            </a:pPr>
            <a:endParaRPr lang="en-ID" sz="18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marL="0" indent="0" algn="ctr">
              <a:buNone/>
            </a:pP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Sumber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: 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Wikipedia </a:t>
            </a:r>
            <a:r>
              <a:rPr lang="en-ID" sz="1800" i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tf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–</a:t>
            </a:r>
            <a:r>
              <a:rPr lang="en-ID" sz="1800" i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idf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</a:p>
          <a:p>
            <a:pPr marL="0" indent="0" algn="just">
              <a:lnSpc>
                <a:spcPct val="150000"/>
              </a:lnSpc>
              <a:spcAft>
                <a:spcPts val="550"/>
              </a:spcAft>
              <a:buNone/>
            </a:pP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Keterangan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:</a:t>
            </a: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914400" indent="0" algn="just">
              <a:lnSpc>
                <a:spcPct val="150000"/>
              </a:lnSpc>
              <a:spcAft>
                <a:spcPts val="550"/>
              </a:spcAft>
              <a:buNone/>
            </a:pP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tf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(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t, d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)	= Total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nilai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kata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sering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muncul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dalam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kumpulan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dokumen</a:t>
            </a: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916940" indent="0" algn="just">
              <a:lnSpc>
                <a:spcPct val="150000"/>
              </a:lnSpc>
              <a:spcAft>
                <a:spcPts val="550"/>
              </a:spcAft>
              <a:buNone/>
            </a:pP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idf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(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t, D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) 	= Nilai kata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jarang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muncul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dalam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kumpulan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dokumen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.</a:t>
            </a: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457200" indent="0" algn="just">
              <a:lnSpc>
                <a:spcPct val="150000"/>
              </a:lnSpc>
              <a:spcAft>
                <a:spcPts val="550"/>
              </a:spcAft>
              <a:buNone/>
            </a:pP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		= 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term</a:t>
            </a: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907415" indent="0" algn="just">
              <a:lnSpc>
                <a:spcPct val="150000"/>
              </a:lnSpc>
              <a:spcAft>
                <a:spcPts val="550"/>
              </a:spcAft>
              <a:buNone/>
            </a:pP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		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=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Dokumen</a:t>
            </a: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450215" indent="0" algn="just">
              <a:lnSpc>
                <a:spcPct val="150000"/>
              </a:lnSpc>
              <a:spcAft>
                <a:spcPts val="550"/>
              </a:spcAft>
              <a:buNone/>
            </a:pP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 		= Total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dokumen</a:t>
            </a: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0" indent="0">
              <a:buNone/>
            </a:pP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98EC2C-2675-846D-9099-7CBA9DE04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462" y="2386012"/>
            <a:ext cx="2505075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763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429F2-74E3-1107-CE7E-09E471B97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D" sz="4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Langkah </a:t>
            </a:r>
            <a:r>
              <a:rPr lang="en-ID" sz="4000" b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Langkah</a:t>
            </a:r>
            <a:r>
              <a:rPr lang="en-ID" sz="4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ID" sz="4000" b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Algoritma</a:t>
            </a:r>
            <a:r>
              <a:rPr lang="en-ID" sz="4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ID" sz="4000" b="1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TF – IDF</a:t>
            </a:r>
            <a:endParaRPr lang="en-ID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2428E-89D0-1E88-763E-66770ACE9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8763"/>
            <a:ext cx="10515600" cy="4648200"/>
          </a:xfrm>
        </p:spPr>
        <p:txBody>
          <a:bodyPr>
            <a:noAutofit/>
          </a:bodyPr>
          <a:lstStyle/>
          <a:p>
            <a:pPr marL="0" lvl="0" indent="0" algn="just">
              <a:lnSpc>
                <a:spcPct val="100000"/>
              </a:lnSpc>
              <a:spcAft>
                <a:spcPts val="550"/>
              </a:spcAft>
              <a:buNone/>
            </a:pP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Dokumen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1: "Mobil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berwarna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merah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itu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melaju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kencang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di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jalan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tol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."</a:t>
            </a:r>
            <a:endParaRPr lang="en-ID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0" lvl="0" indent="0" algn="just">
              <a:lnSpc>
                <a:spcPct val="100000"/>
              </a:lnSpc>
              <a:spcAft>
                <a:spcPts val="550"/>
              </a:spcAft>
              <a:buNone/>
            </a:pP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Dokumen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2: "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Sepeda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motor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adalah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kendaraan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roda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dua yang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banyak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digunakan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di Indonesia."</a:t>
            </a:r>
            <a:endParaRPr lang="en-ID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678815" indent="0" algn="just">
              <a:lnSpc>
                <a:spcPct val="100000"/>
              </a:lnSpc>
              <a:spcAft>
                <a:spcPts val="550"/>
              </a:spcAft>
              <a:buNone/>
            </a:pP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Mari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kita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hitung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nilai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TF-IDF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untuk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kata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kunci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"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mobil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" pada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kedua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dokumen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:</a:t>
            </a:r>
            <a:endParaRPr lang="en-ID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0" lvl="0" indent="0" algn="just">
              <a:lnSpc>
                <a:spcPct val="100000"/>
              </a:lnSpc>
              <a:spcAft>
                <a:spcPts val="550"/>
              </a:spcAft>
              <a:buNone/>
            </a:pP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Dokumen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1:TF: Kata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kunci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"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mobil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"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muncul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1 kali.</a:t>
            </a:r>
            <a:endParaRPr lang="en-ID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907415" indent="0" algn="just">
              <a:lnSpc>
                <a:spcPct val="100000"/>
              </a:lnSpc>
              <a:spcAft>
                <a:spcPts val="550"/>
              </a:spcAft>
              <a:buNone/>
            </a:pP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IDF: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Asumsikan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kata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kunci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"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mobil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"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muncul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dalam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10%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dokumen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dalam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kumpulan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data.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Maka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, IDF = log(N/n), di mana N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adalah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jumlah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total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dokumen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dan n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adalah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jumlah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dokumen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yang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mengandung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kata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kunci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"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mobil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".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Dalam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kasus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ini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, IDF = log(10/1) = 2.3025.</a:t>
            </a:r>
            <a:endParaRPr lang="en-ID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678815" indent="0" algn="just">
              <a:lnSpc>
                <a:spcPct val="100000"/>
              </a:lnSpc>
              <a:spcAft>
                <a:spcPts val="550"/>
              </a:spcAft>
              <a:buNone/>
            </a:pP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TF-IDF = 1 * 2.3025 = 2.3025</a:t>
            </a:r>
            <a:endParaRPr lang="en-ID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0" lvl="0" indent="0" algn="just">
              <a:lnSpc>
                <a:spcPct val="100000"/>
              </a:lnSpc>
              <a:spcAft>
                <a:spcPts val="550"/>
              </a:spcAft>
              <a:buNone/>
            </a:pP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Dokumen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2:TF: Kata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kunci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"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mobil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"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tidak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muncul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.</a:t>
            </a:r>
            <a:endParaRPr lang="en-ID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678815" indent="0" algn="just">
              <a:lnSpc>
                <a:spcPct val="100000"/>
              </a:lnSpc>
              <a:spcAft>
                <a:spcPts val="550"/>
              </a:spcAft>
              <a:buNone/>
            </a:pP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IDF: IDF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sama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seperti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pada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Dokumen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1.</a:t>
            </a:r>
            <a:endParaRPr lang="en-ID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664845" indent="0" algn="just">
              <a:lnSpc>
                <a:spcPct val="100000"/>
              </a:lnSpc>
              <a:spcAft>
                <a:spcPts val="550"/>
              </a:spcAft>
              <a:buNone/>
            </a:pP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TF-IDF = 0 * 2.3025 = 0</a:t>
            </a:r>
            <a:endParaRPr lang="en-ID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664845" indent="0" algn="just">
              <a:lnSpc>
                <a:spcPct val="100000"/>
              </a:lnSpc>
              <a:spcAft>
                <a:spcPts val="550"/>
              </a:spcAft>
              <a:buNone/>
            </a:pP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Dari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contoh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ini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,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kita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dapat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melihat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bahwa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nilai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TF-IDF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untuk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kata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kunci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"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mobil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" pada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Dokumen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1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lebih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tinggi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daripada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Dokumen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2. Hal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ini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menunjukkan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bahwa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kata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kunci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"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mobil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"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lebih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penting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bagi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Dokumen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1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dibandingkan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4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Dokumen</a:t>
            </a:r>
            <a:r>
              <a:rPr lang="en-ID" sz="1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2.</a:t>
            </a:r>
            <a:endParaRPr lang="en-ID" sz="14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0" indent="0">
              <a:lnSpc>
                <a:spcPct val="100000"/>
              </a:lnSpc>
              <a:buNone/>
            </a:pPr>
            <a:endParaRPr lang="en-ID" sz="1100" dirty="0"/>
          </a:p>
        </p:txBody>
      </p:sp>
    </p:spTree>
    <p:extLst>
      <p:ext uri="{BB962C8B-B14F-4D97-AF65-F5344CB8AC3E}">
        <p14:creationId xmlns:p14="http://schemas.microsoft.com/office/powerpoint/2010/main" val="3968139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DB1A5-F920-BC74-592C-063A24EB8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D" sz="4000" b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Algoritma</a:t>
            </a:r>
            <a:r>
              <a:rPr lang="en-ID" sz="4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Fuzzy Matching</a:t>
            </a:r>
            <a:endParaRPr lang="en-ID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0F546-40CA-4C08-EEAD-517E1AA28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Algoritma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Fuzzy Matching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adalah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teknik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pencocokan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string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mempertimbangkan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kemiripan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antara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dua string,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bukan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hanya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persamaan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kedua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string. Hal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ini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memungkinkan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algoritma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untuk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menemukan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kecocokan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bahkan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ketika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terdapat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perbedaan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kecil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dalam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ejaan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, tata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bahasa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,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atau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struktur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kalimat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.</a:t>
            </a: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963961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E86F7-196F-CCB2-F500-51522D0AE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D" sz="4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Cara </a:t>
            </a:r>
            <a:r>
              <a:rPr lang="en-ID" sz="4000" b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Kerja</a:t>
            </a:r>
            <a:r>
              <a:rPr lang="en-ID" sz="4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4000" b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Algoritma</a:t>
            </a:r>
            <a:r>
              <a:rPr lang="en-ID" sz="4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Fuzzy Matching</a:t>
            </a:r>
            <a:endParaRPr lang="en-ID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0CC0B-629F-9E66-361D-48979FAD4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indent="194310" algn="just">
              <a:lnSpc>
                <a:spcPct val="150000"/>
              </a:lnSpc>
              <a:spcAft>
                <a:spcPts val="550"/>
              </a:spcAft>
            </a:pP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Berikut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adalah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contoh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bagaimana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algoritma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Fuzzy Matching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dapat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digunakan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untuk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menemukan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kecocokan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antara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dua string:</a:t>
            </a: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457200" indent="262890" algn="just">
              <a:lnSpc>
                <a:spcPct val="150000"/>
              </a:lnSpc>
              <a:spcAft>
                <a:spcPts val="550"/>
              </a:spcAft>
            </a:pP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String 1: "Sepatu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lari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"</a:t>
            </a: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457200" indent="262890" algn="just">
              <a:lnSpc>
                <a:spcPct val="150000"/>
              </a:lnSpc>
              <a:spcAft>
                <a:spcPts val="550"/>
              </a:spcAft>
            </a:pP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String 2: "Sepatu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lari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merah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"</a:t>
            </a: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indent="194310" algn="just">
              <a:lnSpc>
                <a:spcPct val="150000"/>
              </a:lnSpc>
              <a:spcAft>
                <a:spcPts val="550"/>
              </a:spcAft>
            </a:pP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Algoritma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Levenshtein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Distance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menghitung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jarak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antara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dua string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ini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sebagai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satu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. Hal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ini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karena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hanya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perlu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satu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operasi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(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penghapusan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kata "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merah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")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untuk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mengubah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String 1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menjadi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String 2.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Misalkan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nilai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ambang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batas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kesamaan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untuk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algoritma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Fuzzy Matching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adalah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0.8.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Dalam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hal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ini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,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algoritma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menganggap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String 1 dan String 2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sebagai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kecocokan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karena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jaraknya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(0.8)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lebih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besar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dari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nilai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ambang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batas.</a:t>
            </a: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0085849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24890-E6C6-A14A-3101-99574BC61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D" sz="4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Hasil </a:t>
            </a:r>
            <a:r>
              <a:rPr lang="en-ID" sz="4000" b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Penelitian</a:t>
            </a:r>
            <a:r>
              <a:rPr lang="en-ID" sz="4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4000" b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Sebelumnya</a:t>
            </a:r>
            <a:endParaRPr lang="en-ID" sz="40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43DDEBA-9FC8-5C36-3B30-77891F6CC53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457489" y="1312539"/>
          <a:ext cx="1277021" cy="53787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6253">
                  <a:extLst>
                    <a:ext uri="{9D8B030D-6E8A-4147-A177-3AD203B41FA5}">
                      <a16:colId xmlns:a16="http://schemas.microsoft.com/office/drawing/2014/main" val="1276228562"/>
                    </a:ext>
                  </a:extLst>
                </a:gridCol>
                <a:gridCol w="284082">
                  <a:extLst>
                    <a:ext uri="{9D8B030D-6E8A-4147-A177-3AD203B41FA5}">
                      <a16:colId xmlns:a16="http://schemas.microsoft.com/office/drawing/2014/main" val="2568276092"/>
                    </a:ext>
                  </a:extLst>
                </a:gridCol>
                <a:gridCol w="248048">
                  <a:extLst>
                    <a:ext uri="{9D8B030D-6E8A-4147-A177-3AD203B41FA5}">
                      <a16:colId xmlns:a16="http://schemas.microsoft.com/office/drawing/2014/main" val="13088747"/>
                    </a:ext>
                  </a:extLst>
                </a:gridCol>
                <a:gridCol w="311443">
                  <a:extLst>
                    <a:ext uri="{9D8B030D-6E8A-4147-A177-3AD203B41FA5}">
                      <a16:colId xmlns:a16="http://schemas.microsoft.com/office/drawing/2014/main" val="334381087"/>
                    </a:ext>
                  </a:extLst>
                </a:gridCol>
                <a:gridCol w="357195">
                  <a:extLst>
                    <a:ext uri="{9D8B030D-6E8A-4147-A177-3AD203B41FA5}">
                      <a16:colId xmlns:a16="http://schemas.microsoft.com/office/drawing/2014/main" val="1895730413"/>
                    </a:ext>
                  </a:extLst>
                </a:gridCol>
              </a:tblGrid>
              <a:tr h="9748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00">
                          <a:effectLst/>
                        </a:rPr>
                        <a:t>No</a:t>
                      </a:r>
                      <a:endParaRPr lang="en-ID" sz="3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Cordia New" panose="020B0304020202020204" pitchFamily="34" charset="-34"/>
                      </a:endParaRPr>
                    </a:p>
                  </a:txBody>
                  <a:tcPr marL="16148" marR="161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00">
                          <a:effectLst/>
                        </a:rPr>
                        <a:t>Nama, Tahun</a:t>
                      </a:r>
                      <a:endParaRPr lang="en-ID" sz="3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Cordia New" panose="020B0304020202020204" pitchFamily="34" charset="-34"/>
                      </a:endParaRPr>
                    </a:p>
                  </a:txBody>
                  <a:tcPr marL="16148" marR="161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00">
                          <a:effectLst/>
                        </a:rPr>
                        <a:t>Judul</a:t>
                      </a:r>
                      <a:endParaRPr lang="en-ID" sz="3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Cordia New" panose="020B0304020202020204" pitchFamily="34" charset="-34"/>
                      </a:endParaRPr>
                    </a:p>
                  </a:txBody>
                  <a:tcPr marL="16148" marR="161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00">
                          <a:effectLst/>
                        </a:rPr>
                        <a:t>Tujuan Penelitian</a:t>
                      </a:r>
                      <a:endParaRPr lang="en-ID" sz="3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Cordia New" panose="020B0304020202020204" pitchFamily="34" charset="-34"/>
                      </a:endParaRPr>
                    </a:p>
                  </a:txBody>
                  <a:tcPr marL="16148" marR="161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00">
                          <a:effectLst/>
                        </a:rPr>
                        <a:t>Hasil Penelitian</a:t>
                      </a:r>
                      <a:endParaRPr lang="en-ID" sz="3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Cordia New" panose="020B0304020202020204" pitchFamily="34" charset="-34"/>
                      </a:endParaRPr>
                    </a:p>
                  </a:txBody>
                  <a:tcPr marL="16148" marR="16148" marT="0" marB="0"/>
                </a:tc>
                <a:extLst>
                  <a:ext uri="{0D108BD9-81ED-4DB2-BD59-A6C34878D82A}">
                    <a16:rowId xmlns:a16="http://schemas.microsoft.com/office/drawing/2014/main" val="1675169459"/>
                  </a:ext>
                </a:extLst>
              </a:tr>
              <a:tr h="64287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00">
                          <a:effectLst/>
                        </a:rPr>
                        <a:t>1</a:t>
                      </a:r>
                      <a:endParaRPr lang="en-ID" sz="3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Cordia New" panose="020B0304020202020204" pitchFamily="34" charset="-34"/>
                      </a:endParaRPr>
                    </a:p>
                  </a:txBody>
                  <a:tcPr marL="16148" marR="161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00">
                          <a:effectLst/>
                        </a:rPr>
                        <a:t>Herlina Sari, 2021</a:t>
                      </a:r>
                      <a:endParaRPr lang="en-ID" sz="3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Cordia New" panose="020B0304020202020204" pitchFamily="34" charset="-34"/>
                      </a:endParaRPr>
                    </a:p>
                  </a:txBody>
                  <a:tcPr marL="16148" marR="161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00">
                          <a:effectLst/>
                        </a:rPr>
                        <a:t>Penerapan Algoritma Text Mining Dan TF-IDF Untuk Pengelompokan Topik Skripsi Pada Aplikasi Repository STMIK Budi Darma</a:t>
                      </a:r>
                      <a:endParaRPr lang="en-ID" sz="3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Cordia New" panose="020B0304020202020204" pitchFamily="34" charset="-34"/>
                      </a:endParaRPr>
                    </a:p>
                  </a:txBody>
                  <a:tcPr marL="16148" marR="161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00">
                          <a:effectLst/>
                        </a:rPr>
                        <a:t>Tujuan dari penelitian yang dibahas di halaman ini adalah untuk mengembangkan aplikasi repository yang dapat mengelompokkan topik skripsi secara otomatis menggunakan algoritma Text Mining dan TF-IDF.</a:t>
                      </a:r>
                      <a:endParaRPr lang="en-ID" sz="3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Cordia New" panose="020B0304020202020204" pitchFamily="34" charset="-34"/>
                      </a:endParaRPr>
                    </a:p>
                  </a:txBody>
                  <a:tcPr marL="16148" marR="161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00">
                          <a:effectLst/>
                        </a:rPr>
                        <a:t>Studi ini menggali bagaimana teknik text mining dan algoritma TF-IDF dapat digunakan untuk mengklasifikasikan dan mengelompokkan topik skripsi yang ada dalam repositori digital.</a:t>
                      </a:r>
                      <a:endParaRPr lang="en-ID" sz="3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Cordia New" panose="020B0304020202020204" pitchFamily="34" charset="-34"/>
                      </a:endParaRPr>
                    </a:p>
                  </a:txBody>
                  <a:tcPr marL="16148" marR="16148" marT="0" marB="0"/>
                </a:tc>
                <a:extLst>
                  <a:ext uri="{0D108BD9-81ED-4DB2-BD59-A6C34878D82A}">
                    <a16:rowId xmlns:a16="http://schemas.microsoft.com/office/drawing/2014/main" val="1261684668"/>
                  </a:ext>
                </a:extLst>
              </a:tr>
              <a:tr h="126761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00">
                          <a:effectLst/>
                        </a:rPr>
                        <a:t>2</a:t>
                      </a:r>
                      <a:endParaRPr lang="en-ID" sz="3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Cordia New" panose="020B0304020202020204" pitchFamily="34" charset="-34"/>
                      </a:endParaRPr>
                    </a:p>
                  </a:txBody>
                  <a:tcPr marL="16148" marR="161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00">
                          <a:effectLst/>
                        </a:rPr>
                        <a:t>Ni Putu Anggi Yuliani, 2017</a:t>
                      </a:r>
                      <a:endParaRPr lang="en-ID" sz="3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Cordia New" panose="020B0304020202020204" pitchFamily="34" charset="-34"/>
                      </a:endParaRPr>
                    </a:p>
                  </a:txBody>
                  <a:tcPr marL="16148" marR="161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00">
                          <a:effectLst/>
                        </a:rPr>
                        <a:t>Sistem Temu Balik Dokumen Teks Menggunakan Metodebooleandan Term Wight Tf.Idf</a:t>
                      </a:r>
                      <a:endParaRPr lang="en-ID" sz="3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Cordia New" panose="020B0304020202020204" pitchFamily="34" charset="-34"/>
                      </a:endParaRPr>
                    </a:p>
                  </a:txBody>
                  <a:tcPr marL="16148" marR="161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00">
                          <a:effectLst/>
                        </a:rPr>
                        <a:t>Tujuan penelitian dari jurnal tersebut adalah untuk mengembangkan Sistem Temu Balik Dokumen Teks yang efisien menggunakan metode Boolean dan Term Weight TF.IDF.</a:t>
                      </a:r>
                      <a:endParaRPr lang="en-ID" sz="3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Cordia New" panose="020B0304020202020204" pitchFamily="34" charset="-34"/>
                      </a:endParaRPr>
                    </a:p>
                  </a:txBody>
                  <a:tcPr marL="16148" marR="161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00">
                          <a:effectLst/>
                        </a:rPr>
                        <a:t>Metode Boolean: Penelitian ini menggunakan metode Boolean untuk memproses pencarian dokumen teks.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00">
                          <a:effectLst/>
                        </a:rPr>
                        <a:t>Term Weight TF.IDF: Penelitian ini juga mengimplementasikan pembobotan term menggunakan TF.IDF untuk meningkatkan akurasi hasil temu balik.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00">
                          <a:effectLst/>
                        </a:rPr>
                        <a:t>Efisiensi Sistem: Hasil penelitian menunjukkan peningkatan efisiensi dalam sistem temu balik dokumen teks.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00">
                          <a:effectLst/>
                        </a:rPr>
                        <a:t>Implementasi: Penelitian ini memberikan wawasan tentang implementasi sistem yang diusulkan dalam praktik nyata.</a:t>
                      </a:r>
                      <a:endParaRPr lang="en-ID" sz="3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Cordia New" panose="020B0304020202020204" pitchFamily="34" charset="-34"/>
                      </a:endParaRPr>
                    </a:p>
                  </a:txBody>
                  <a:tcPr marL="16148" marR="16148" marT="0" marB="0"/>
                </a:tc>
                <a:extLst>
                  <a:ext uri="{0D108BD9-81ED-4DB2-BD59-A6C34878D82A}">
                    <a16:rowId xmlns:a16="http://schemas.microsoft.com/office/drawing/2014/main" val="403465292"/>
                  </a:ext>
                </a:extLst>
              </a:tr>
              <a:tr h="105760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00">
                          <a:effectLst/>
                        </a:rPr>
                        <a:t>3</a:t>
                      </a:r>
                      <a:endParaRPr lang="en-ID" sz="3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Cordia New" panose="020B0304020202020204" pitchFamily="34" charset="-34"/>
                      </a:endParaRPr>
                    </a:p>
                  </a:txBody>
                  <a:tcPr marL="16148" marR="161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00">
                          <a:effectLst/>
                        </a:rPr>
                        <a:t>Nilawati</a:t>
                      </a:r>
                      <a:endParaRPr lang="en-ID" sz="3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Cordia New" panose="020B0304020202020204" pitchFamily="34" charset="-34"/>
                      </a:endParaRPr>
                    </a:p>
                  </a:txBody>
                  <a:tcPr marL="16148" marR="161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00">
                          <a:effectLst/>
                        </a:rPr>
                        <a:t>Penggunaan  Metode  Cosine  Similarity  Dan  Tf-Idf Untuk  Klasifikasi  Judul  Seminar  Proposal  Pada Fakultas Teknik Universitas Jabal Ghafur</a:t>
                      </a:r>
                      <a:endParaRPr lang="en-ID" sz="3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Cordia New" panose="020B0304020202020204" pitchFamily="34" charset="-34"/>
                      </a:endParaRPr>
                    </a:p>
                  </a:txBody>
                  <a:tcPr marL="16148" marR="161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00">
                          <a:effectLst/>
                        </a:rPr>
                        <a:t>Tujuan penelitian ini untuk mengklasifikasikan judul seminar proposal pada Fakultas Teknik Universitas Jabal Ghafur dengan metode Cosine Similarity dan TF-IDF, berfokus pada pengembangan sistem secara otomatis mengkategorikan judul berdasarkan kesamaan konten, sehingga memmbantu pengelolaan pengetahuan dan organisasi informasi seminar.</a:t>
                      </a:r>
                      <a:endParaRPr lang="en-ID" sz="3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Cordia New" panose="020B0304020202020204" pitchFamily="34" charset="-34"/>
                      </a:endParaRPr>
                    </a:p>
                  </a:txBody>
                  <a:tcPr marL="16148" marR="161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00">
                          <a:effectLst/>
                        </a:rPr>
                        <a:t>Penelitian ini menghasilkan sebuah sistem klasifikasi judul seminar proposal yang efektif. Sistem ini menggunakan metode Cosine Similarity dan TF-IDF (Term Frequency-Inverse Document Frequency) untuk mengukur kesamaan antara dokumen teks.</a:t>
                      </a:r>
                      <a:endParaRPr lang="en-ID" sz="3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Cordia New" panose="020B0304020202020204" pitchFamily="34" charset="-34"/>
                      </a:endParaRPr>
                    </a:p>
                  </a:txBody>
                  <a:tcPr marL="16148" marR="16148" marT="0" marB="0"/>
                </a:tc>
                <a:extLst>
                  <a:ext uri="{0D108BD9-81ED-4DB2-BD59-A6C34878D82A}">
                    <a16:rowId xmlns:a16="http://schemas.microsoft.com/office/drawing/2014/main" val="2671563972"/>
                  </a:ext>
                </a:extLst>
              </a:tr>
              <a:tr h="68895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00">
                          <a:effectLst/>
                        </a:rPr>
                        <a:t>4</a:t>
                      </a:r>
                      <a:endParaRPr lang="en-ID" sz="3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Cordia New" panose="020B0304020202020204" pitchFamily="34" charset="-34"/>
                      </a:endParaRPr>
                    </a:p>
                  </a:txBody>
                  <a:tcPr marL="16148" marR="161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00">
                          <a:effectLst/>
                          <a:highlight>
                            <a:srgbClr val="FFFFFF"/>
                          </a:highlight>
                        </a:rPr>
                        <a:t>Dhebys Suryani Hormansyah, 2018</a:t>
                      </a:r>
                      <a:endParaRPr lang="en-ID" sz="3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Cordia New" panose="020B0304020202020204" pitchFamily="34" charset="-34"/>
                      </a:endParaRPr>
                    </a:p>
                  </a:txBody>
                  <a:tcPr marL="16148" marR="161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00">
                          <a:effectLst/>
                        </a:rPr>
                        <a:t>Penerapan Metode Tf-Idf Dan N-Gram Pada Pengembangan Aplikasi Chatbot Berbasis Line Untuk Layanan Publik Kesehatan Di Kota Malang</a:t>
                      </a:r>
                      <a:endParaRPr lang="en-ID" sz="3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Cordia New" panose="020B0304020202020204" pitchFamily="34" charset="-34"/>
                      </a:endParaRPr>
                    </a:p>
                  </a:txBody>
                  <a:tcPr marL="16148" marR="161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00">
                          <a:effectLst/>
                        </a:rPr>
                        <a:t>Tujuan dari penelitian ini adalah untuk mengembangkan aplikasi chatbot berbasis LINE yang menggunakan metode TF-IDF dan N-GRAM untuk meningkatkan layanan publik kesehatan di Kota Malang.</a:t>
                      </a:r>
                      <a:endParaRPr lang="en-ID" sz="3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Cordia New" panose="020B0304020202020204" pitchFamily="34" charset="-34"/>
                      </a:endParaRPr>
                    </a:p>
                  </a:txBody>
                  <a:tcPr marL="16148" marR="161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00">
                          <a:effectLst/>
                        </a:rPr>
                        <a:t>Penelitian tersebut mengembangkan aplikasi chatbot berbasis LINE yang menggunakan metode TF-IDF dan N-gram untuk meningkatkan layanan publik kesehatan di Kota Malang.</a:t>
                      </a:r>
                      <a:endParaRPr lang="en-ID" sz="3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Cordia New" panose="020B0304020202020204" pitchFamily="34" charset="-34"/>
                      </a:endParaRPr>
                    </a:p>
                  </a:txBody>
                  <a:tcPr marL="16148" marR="16148" marT="0" marB="0"/>
                </a:tc>
                <a:extLst>
                  <a:ext uri="{0D108BD9-81ED-4DB2-BD59-A6C34878D82A}">
                    <a16:rowId xmlns:a16="http://schemas.microsoft.com/office/drawing/2014/main" val="3332295999"/>
                  </a:ext>
                </a:extLst>
              </a:tr>
              <a:tr h="59679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00">
                          <a:effectLst/>
                        </a:rPr>
                        <a:t>5</a:t>
                      </a:r>
                      <a:endParaRPr lang="en-ID" sz="3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Cordia New" panose="020B0304020202020204" pitchFamily="34" charset="-34"/>
                      </a:endParaRPr>
                    </a:p>
                  </a:txBody>
                  <a:tcPr marL="16148" marR="161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00">
                          <a:effectLst/>
                          <a:highlight>
                            <a:srgbClr val="FFFFFF"/>
                          </a:highlight>
                        </a:rPr>
                        <a:t>Kairunnisa, 2019</a:t>
                      </a:r>
                      <a:endParaRPr lang="en-ID" sz="3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Cordia New" panose="020B0304020202020204" pitchFamily="34" charset="-34"/>
                      </a:endParaRPr>
                    </a:p>
                  </a:txBody>
                  <a:tcPr marL="16148" marR="161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00">
                          <a:effectLst/>
                        </a:rPr>
                        <a:t>Penerapan Fuzzy String Matching Pada Aplikasi Pencarian Judul Skripsi Teknik Informatika Berbasis Android</a:t>
                      </a:r>
                      <a:endParaRPr lang="en-ID" sz="3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Cordia New" panose="020B0304020202020204" pitchFamily="34" charset="-34"/>
                      </a:endParaRPr>
                    </a:p>
                  </a:txBody>
                  <a:tcPr marL="16148" marR="161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00">
                          <a:effectLst/>
                        </a:rPr>
                        <a:t>Tujuan dari penelitian ini adalah untuk mengembangkan sebuah aplikasi repository berbasis Android yang memanfaatkan algoritma Fuzzy String Matching</a:t>
                      </a:r>
                      <a:endParaRPr lang="en-ID" sz="3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Cordia New" panose="020B0304020202020204" pitchFamily="34" charset="-34"/>
                      </a:endParaRPr>
                    </a:p>
                  </a:txBody>
                  <a:tcPr marL="16148" marR="1614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D" sz="300" dirty="0" err="1">
                          <a:effectLst/>
                        </a:rPr>
                        <a:t>Aplikasi</a:t>
                      </a:r>
                      <a:r>
                        <a:rPr lang="en-ID" sz="300" dirty="0">
                          <a:effectLst/>
                        </a:rPr>
                        <a:t> </a:t>
                      </a:r>
                      <a:r>
                        <a:rPr lang="en-ID" sz="300" dirty="0" err="1">
                          <a:effectLst/>
                        </a:rPr>
                        <a:t>ini</a:t>
                      </a:r>
                      <a:r>
                        <a:rPr lang="en-ID" sz="300" dirty="0">
                          <a:effectLst/>
                        </a:rPr>
                        <a:t> </a:t>
                      </a:r>
                      <a:r>
                        <a:rPr lang="en-ID" sz="300" dirty="0" err="1">
                          <a:effectLst/>
                        </a:rPr>
                        <a:t>dirancang</a:t>
                      </a:r>
                      <a:r>
                        <a:rPr lang="en-ID" sz="300" dirty="0">
                          <a:effectLst/>
                        </a:rPr>
                        <a:t> </a:t>
                      </a:r>
                      <a:r>
                        <a:rPr lang="en-ID" sz="300" dirty="0" err="1">
                          <a:effectLst/>
                        </a:rPr>
                        <a:t>untuk</a:t>
                      </a:r>
                      <a:r>
                        <a:rPr lang="en-ID" sz="300" dirty="0">
                          <a:effectLst/>
                        </a:rPr>
                        <a:t> </a:t>
                      </a:r>
                      <a:r>
                        <a:rPr lang="en-ID" sz="300" dirty="0" err="1">
                          <a:effectLst/>
                        </a:rPr>
                        <a:t>membantu</a:t>
                      </a:r>
                      <a:r>
                        <a:rPr lang="en-ID" sz="300" dirty="0">
                          <a:effectLst/>
                        </a:rPr>
                        <a:t> </a:t>
                      </a:r>
                      <a:r>
                        <a:rPr lang="en-ID" sz="300" dirty="0" err="1">
                          <a:effectLst/>
                        </a:rPr>
                        <a:t>mahasiswa</a:t>
                      </a:r>
                      <a:r>
                        <a:rPr lang="en-ID" sz="300" dirty="0">
                          <a:effectLst/>
                        </a:rPr>
                        <a:t> </a:t>
                      </a:r>
                      <a:r>
                        <a:rPr lang="en-ID" sz="300" dirty="0" err="1">
                          <a:effectLst/>
                        </a:rPr>
                        <a:t>dalam</a:t>
                      </a:r>
                      <a:r>
                        <a:rPr lang="en-ID" sz="300" dirty="0">
                          <a:effectLst/>
                        </a:rPr>
                        <a:t> </a:t>
                      </a:r>
                      <a:r>
                        <a:rPr lang="en-ID" sz="300" dirty="0" err="1">
                          <a:effectLst/>
                        </a:rPr>
                        <a:t>mencari</a:t>
                      </a:r>
                      <a:r>
                        <a:rPr lang="en-ID" sz="300" dirty="0">
                          <a:effectLst/>
                        </a:rPr>
                        <a:t> </a:t>
                      </a:r>
                      <a:r>
                        <a:rPr lang="en-ID" sz="300" dirty="0" err="1">
                          <a:effectLst/>
                        </a:rPr>
                        <a:t>referensi</a:t>
                      </a:r>
                      <a:r>
                        <a:rPr lang="en-ID" sz="300" dirty="0">
                          <a:effectLst/>
                        </a:rPr>
                        <a:t> </a:t>
                      </a:r>
                      <a:r>
                        <a:rPr lang="en-ID" sz="300" dirty="0" err="1">
                          <a:effectLst/>
                        </a:rPr>
                        <a:t>skripsi</a:t>
                      </a:r>
                      <a:r>
                        <a:rPr lang="en-ID" sz="300" dirty="0">
                          <a:effectLst/>
                        </a:rPr>
                        <a:t> </a:t>
                      </a:r>
                      <a:r>
                        <a:rPr lang="en-ID" sz="300" dirty="0" err="1">
                          <a:effectLst/>
                        </a:rPr>
                        <a:t>dengan</a:t>
                      </a:r>
                      <a:r>
                        <a:rPr lang="en-ID" sz="300" dirty="0">
                          <a:effectLst/>
                        </a:rPr>
                        <a:t> </a:t>
                      </a:r>
                      <a:r>
                        <a:rPr lang="en-ID" sz="300" dirty="0" err="1">
                          <a:effectLst/>
                        </a:rPr>
                        <a:t>cepat</a:t>
                      </a:r>
                      <a:r>
                        <a:rPr lang="en-ID" sz="300" dirty="0">
                          <a:effectLst/>
                        </a:rPr>
                        <a:t> dan </a:t>
                      </a:r>
                      <a:r>
                        <a:rPr lang="en-ID" sz="300" dirty="0" err="1">
                          <a:effectLst/>
                        </a:rPr>
                        <a:t>efisien</a:t>
                      </a:r>
                      <a:r>
                        <a:rPr lang="en-ID" sz="300" dirty="0">
                          <a:effectLst/>
                        </a:rPr>
                        <a:t>. </a:t>
                      </a:r>
                      <a:r>
                        <a:rPr lang="en-ID" sz="300" dirty="0" err="1">
                          <a:effectLst/>
                        </a:rPr>
                        <a:t>Dengan</a:t>
                      </a:r>
                      <a:r>
                        <a:rPr lang="en-ID" sz="300" dirty="0">
                          <a:effectLst/>
                        </a:rPr>
                        <a:t> </a:t>
                      </a:r>
                      <a:r>
                        <a:rPr lang="en-ID" sz="300" dirty="0" err="1">
                          <a:effectLst/>
                        </a:rPr>
                        <a:t>aplikasi</a:t>
                      </a:r>
                      <a:r>
                        <a:rPr lang="en-ID" sz="300" dirty="0">
                          <a:effectLst/>
                        </a:rPr>
                        <a:t> </a:t>
                      </a:r>
                      <a:r>
                        <a:rPr lang="en-ID" sz="300" dirty="0" err="1">
                          <a:effectLst/>
                        </a:rPr>
                        <a:t>ini</a:t>
                      </a:r>
                      <a:r>
                        <a:rPr lang="en-ID" sz="300" dirty="0">
                          <a:effectLst/>
                        </a:rPr>
                        <a:t>, </a:t>
                      </a:r>
                      <a:r>
                        <a:rPr lang="en-ID" sz="300" dirty="0" err="1">
                          <a:effectLst/>
                        </a:rPr>
                        <a:t>pengguna</a:t>
                      </a:r>
                      <a:r>
                        <a:rPr lang="en-ID" sz="300" dirty="0">
                          <a:effectLst/>
                        </a:rPr>
                        <a:t> </a:t>
                      </a:r>
                      <a:r>
                        <a:rPr lang="en-ID" sz="300" dirty="0" err="1">
                          <a:effectLst/>
                        </a:rPr>
                        <a:t>dapat</a:t>
                      </a:r>
                      <a:r>
                        <a:rPr lang="en-ID" sz="300" dirty="0">
                          <a:effectLst/>
                        </a:rPr>
                        <a:t> </a:t>
                      </a:r>
                      <a:r>
                        <a:rPr lang="en-ID" sz="300" dirty="0" err="1">
                          <a:effectLst/>
                        </a:rPr>
                        <a:t>melakukan</a:t>
                      </a:r>
                      <a:r>
                        <a:rPr lang="en-ID" sz="300" dirty="0">
                          <a:effectLst/>
                        </a:rPr>
                        <a:t> </a:t>
                      </a:r>
                      <a:r>
                        <a:rPr lang="en-ID" sz="300" dirty="0" err="1">
                          <a:effectLst/>
                        </a:rPr>
                        <a:t>pencarian</a:t>
                      </a:r>
                      <a:r>
                        <a:rPr lang="en-ID" sz="300" dirty="0">
                          <a:effectLst/>
                        </a:rPr>
                        <a:t> </a:t>
                      </a:r>
                      <a:r>
                        <a:rPr lang="en-ID" sz="300" dirty="0" err="1">
                          <a:effectLst/>
                        </a:rPr>
                        <a:t>judul</a:t>
                      </a:r>
                      <a:r>
                        <a:rPr lang="en-ID" sz="300" dirty="0">
                          <a:effectLst/>
                        </a:rPr>
                        <a:t> </a:t>
                      </a:r>
                      <a:r>
                        <a:rPr lang="en-ID" sz="300" dirty="0" err="1">
                          <a:effectLst/>
                        </a:rPr>
                        <a:t>skripsi</a:t>
                      </a:r>
                      <a:r>
                        <a:rPr lang="en-ID" sz="300" dirty="0">
                          <a:effectLst/>
                        </a:rPr>
                        <a:t> pada STMIK Budi Darma dan </a:t>
                      </a:r>
                      <a:r>
                        <a:rPr lang="en-ID" sz="300" dirty="0" err="1">
                          <a:effectLst/>
                        </a:rPr>
                        <a:t>mendapatkan</a:t>
                      </a:r>
                      <a:r>
                        <a:rPr lang="en-ID" sz="300" dirty="0">
                          <a:effectLst/>
                        </a:rPr>
                        <a:t> saran kata yang </a:t>
                      </a:r>
                      <a:r>
                        <a:rPr lang="en-ID" sz="300" dirty="0" err="1">
                          <a:effectLst/>
                        </a:rPr>
                        <a:t>relevan</a:t>
                      </a:r>
                      <a:r>
                        <a:rPr lang="en-ID" sz="300" dirty="0">
                          <a:effectLst/>
                        </a:rPr>
                        <a:t>,</a:t>
                      </a:r>
                      <a:endParaRPr lang="en-ID" sz="3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Cordia New" panose="020B0304020202020204" pitchFamily="34" charset="-34"/>
                      </a:endParaRPr>
                    </a:p>
                  </a:txBody>
                  <a:tcPr marL="16148" marR="16148" marT="0" marB="0"/>
                </a:tc>
                <a:extLst>
                  <a:ext uri="{0D108BD9-81ED-4DB2-BD59-A6C34878D82A}">
                    <a16:rowId xmlns:a16="http://schemas.microsoft.com/office/drawing/2014/main" val="4165666219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E205D0B2-B693-9939-69F0-F8FC7B119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h-TH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Angsana New" panose="02020603050405020304" pitchFamily="18" charset="-34"/>
              </a:rPr>
              <a:t>Tabel 2.10.1 Tinjauan Pustaka Jurnal</a:t>
            </a:r>
            <a:endParaRPr kumimoji="0" lang="th-TH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1510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B6EFB-6E85-EC59-7F2F-92C438056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D" sz="4000" b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Metode</a:t>
            </a:r>
            <a:r>
              <a:rPr lang="en-ID" sz="4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4000" b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Pengumpulan</a:t>
            </a:r>
            <a:r>
              <a:rPr lang="en-ID" sz="4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Data</a:t>
            </a:r>
            <a:endParaRPr lang="en-ID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42F92-4AE4-1CF5-5D15-CDAB59A2D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indent="0" algn="just">
              <a:lnSpc>
                <a:spcPct val="120000"/>
              </a:lnSpc>
              <a:spcAft>
                <a:spcPts val="550"/>
              </a:spcAft>
              <a:buNone/>
            </a:pP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Dalam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metode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pengumpulan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data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memiliki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peranan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penting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dalam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mendapatkan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suatu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informasi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. Data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relevan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dengan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pokok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pembahasannya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adalah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indikator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keberhasilan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suatu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penelitian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.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Dalam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pengumpulan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data,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beberapa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metode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digunakan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diantaranya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: </a:t>
            </a: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indent="0" algn="just">
              <a:lnSpc>
                <a:spcPct val="120000"/>
              </a:lnSpc>
              <a:spcAft>
                <a:spcPts val="550"/>
              </a:spcAft>
              <a:buNone/>
            </a:pPr>
            <a:r>
              <a:rPr lang="en-ID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3.1.1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b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Wawancara</a:t>
            </a: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indent="0" algn="just">
              <a:lnSpc>
                <a:spcPct val="120000"/>
              </a:lnSpc>
              <a:spcAft>
                <a:spcPts val="550"/>
              </a:spcAft>
              <a:buNone/>
            </a:pP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Wawancara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adalah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proses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pengumpulan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data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dengan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tanya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jawab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secara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langsung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dengan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orang – orang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terkait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.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Berikut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ini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merupakan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beberapa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pertanyaan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wawancara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dilakukan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yaitu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:</a:t>
            </a: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0" indent="0" algn="just">
              <a:lnSpc>
                <a:spcPct val="120000"/>
              </a:lnSpc>
              <a:spcAft>
                <a:spcPts val="550"/>
              </a:spcAft>
              <a:buNone/>
            </a:pP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Kendala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apa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saja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dialami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oleh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kelompok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bidang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keilmuan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(KBK)?</a:t>
            </a: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0" indent="0" algn="just">
              <a:lnSpc>
                <a:spcPct val="120000"/>
              </a:lnSpc>
              <a:spcAft>
                <a:spcPts val="550"/>
              </a:spcAft>
              <a:buNone/>
            </a:pP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Berapa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lama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periode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mahasiswa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mengumpulkan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judul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skripsi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?</a:t>
            </a: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221615" indent="0" algn="just">
              <a:lnSpc>
                <a:spcPct val="120000"/>
              </a:lnSpc>
              <a:spcAft>
                <a:spcPts val="550"/>
              </a:spcAft>
              <a:buNone/>
            </a:pPr>
            <a:r>
              <a:rPr lang="en-ID" sz="18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3.1.2 </a:t>
            </a:r>
            <a:r>
              <a:rPr lang="en-ID" sz="1800" b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Pengamatan</a:t>
            </a: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indent="0" algn="just">
              <a:lnSpc>
                <a:spcPct val="120000"/>
              </a:lnSpc>
              <a:spcAft>
                <a:spcPts val="550"/>
              </a:spcAft>
              <a:buNone/>
            </a:pP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Penulis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mengamati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secara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langsung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lingkungan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sistem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dibangun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.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Ini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bertujuan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untuk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mendapatkan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gambaran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jelas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terhadap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sistem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dibangun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.</a:t>
            </a: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98232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E2E56-5F68-0C15-EEB7-BFEA1BF6F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D" sz="4000" b="1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Database MySQL</a:t>
            </a:r>
            <a:endParaRPr lang="en-ID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38B49-8A2F-0350-98CD-A0A4E71EF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MySQL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adalah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database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multiuser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menggunakan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bahasa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Structured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Query Language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(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SQL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) dan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termasuk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dalam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kategori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Database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Management System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(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DBMS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)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bersifat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open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source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[11]. 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MySQL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menyimpan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data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dalam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tabel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terstruktur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.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Setiap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tabel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terdiri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dari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baris dan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kolom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. Baris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mewakili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catatan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individual,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sedangkan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kolom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mewakili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atribut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atau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karakteristik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dari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catatan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tersebut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.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Misalnya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,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tabel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"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Pelanggan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"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mungkin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memiliki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kolom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untuk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nama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,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alamat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, dan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nomor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telepon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pelanggan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.</a:t>
            </a:r>
            <a:r>
              <a:rPr lang="en-ID" sz="1800" dirty="0">
                <a:effectLst/>
                <a:latin typeface="Calibri" panose="020F0502020204030204" pitchFamily="34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MySQL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menggunakan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bahasa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query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terstruktur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(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SQL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)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untuk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mengakses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dan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memanipulasi</a:t>
            </a:r>
            <a:r>
              <a:rPr lang="en-ID" sz="18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 data</a:t>
            </a:r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.</a:t>
            </a: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11238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7AE2FC5-99E3-CA0D-B384-743832CA29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5552" y="585212"/>
            <a:ext cx="2080895" cy="568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7919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0340588-E2C4-2A22-6949-508B3FA8B1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9940" y="604996"/>
            <a:ext cx="9052120" cy="564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5468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2D5B220-0B5C-C996-1F0E-F6F63ED08D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7862" y="313348"/>
            <a:ext cx="3424238" cy="554114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81EDA4C-5AA9-1AB9-3060-D10EBCA631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4726" y="313348"/>
            <a:ext cx="3062288" cy="55376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32CB3F-95C1-A5F2-1D95-3D3C3810F781}"/>
              </a:ext>
            </a:extLst>
          </p:cNvPr>
          <p:cNvSpPr txBox="1"/>
          <p:nvPr/>
        </p:nvSpPr>
        <p:spPr>
          <a:xfrm>
            <a:off x="2184796" y="5912608"/>
            <a:ext cx="2950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Activity Diagram </a:t>
            </a:r>
            <a:r>
              <a:rPr lang="en-ID" sz="1800" i="1" dirty="0" err="1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Cordia New" panose="020B0304020202020204" pitchFamily="34" charset="-34"/>
              </a:rPr>
              <a:t>Mahasiswa</a:t>
            </a:r>
            <a:endParaRPr lang="en-ID" sz="1800" dirty="0">
              <a:effectLst/>
              <a:latin typeface="Calibri" panose="020F0502020204030204" pitchFamily="34" charset="0"/>
              <a:ea typeface="MS Mincho" panose="02020609040205080304" pitchFamily="49" charset="-128"/>
              <a:cs typeface="Cordia New" panose="020B0304020202020204" pitchFamily="34" charset="-34"/>
            </a:endParaRPr>
          </a:p>
          <a:p>
            <a:endParaRPr lang="en-ID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9F293-6A14-87CA-D449-20994B16C5CA}"/>
              </a:ext>
            </a:extLst>
          </p:cNvPr>
          <p:cNvSpPr txBox="1"/>
          <p:nvPr/>
        </p:nvSpPr>
        <p:spPr>
          <a:xfrm>
            <a:off x="7637106" y="5850985"/>
            <a:ext cx="2437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Activity Diagram Admin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7425699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8CDF2-30F1-7FCD-A13A-24A916653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TERIMAKASIH ATAS PERHATIANNYA</a:t>
            </a:r>
            <a:endParaRPr lang="en-ID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4736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1707</Words>
  <Application>Microsoft Office PowerPoint</Application>
  <PresentationFormat>Widescreen</PresentationFormat>
  <Paragraphs>124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Office Theme</vt:lpstr>
      <vt:lpstr>Pendahuluan</vt:lpstr>
      <vt:lpstr>Latar Belakang Masalah</vt:lpstr>
      <vt:lpstr>Identifikasi Masalah</vt:lpstr>
      <vt:lpstr>Rumusan Masalah</vt:lpstr>
      <vt:lpstr>Batasan Masalah</vt:lpstr>
      <vt:lpstr>Tujuan Penelitian</vt:lpstr>
      <vt:lpstr>Manfaat Penelitian</vt:lpstr>
      <vt:lpstr>Algoritma TF-IDF</vt:lpstr>
      <vt:lpstr>Term Frequency </vt:lpstr>
      <vt:lpstr>Inverse Document Frequency</vt:lpstr>
      <vt:lpstr>PowerPoint Presentation</vt:lpstr>
      <vt:lpstr>Langkah Langkah Algoritma TF – IDF</vt:lpstr>
      <vt:lpstr>Algoritma Fuzzy Matching</vt:lpstr>
      <vt:lpstr>Cara Kerja Algoritma Fuzzy Matching</vt:lpstr>
      <vt:lpstr>Hasil Penelitian Sebelumnya</vt:lpstr>
      <vt:lpstr>Metode Pengumpulan Data</vt:lpstr>
      <vt:lpstr>Database MySQL</vt:lpstr>
      <vt:lpstr>PowerPoint Presentation</vt:lpstr>
      <vt:lpstr>PowerPoint Presentation</vt:lpstr>
      <vt:lpstr>PowerPoint Presentation</vt:lpstr>
      <vt:lpstr>TERIMAKASIH ATAS PERHATIANNYA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Pendahuluan</dc:title>
  <dc:creator>Arif Nurlistanto</dc:creator>
  <cp:lastModifiedBy>Arif Nurlistanto</cp:lastModifiedBy>
  <cp:revision>2</cp:revision>
  <dcterms:created xsi:type="dcterms:W3CDTF">2024-05-19T04:26:59Z</dcterms:created>
  <dcterms:modified xsi:type="dcterms:W3CDTF">2024-05-19T15:48:27Z</dcterms:modified>
</cp:coreProperties>
</file>